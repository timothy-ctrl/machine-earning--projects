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02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explaining that this deck turns the notebook into a professor-ready ML story, with every graph location clearly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professor the deck follows the notebook sequence: data, EDA, feature engineering, unsupervised learning, supervised learning,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notebook is a prototype for credit scoring, not final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slide helps the professor understand how the notebook concepts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modelling at customer level avoids treating every transaction as an independent borrower.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direct graph placement guide: use the exact names from the notebook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EDA logic, not just show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important master-level slide because it explains how the target was created and how leakage was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K-Means was chosen based on multiple cluster-quality metrics, not personal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risk groups are interpretations of cluster profiles, not real default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numbers from the table to emphasize the best model and explain why F1 was prioritized.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Random Forest is selected because it provides the strongest F1, precision, recall, and ROC-AUC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Cross-validation gives a stronger academic argument than reporting only test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regression, lower RMSE and MAE are better, while higher R²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high performance is promising but may be inflated because eligibility and loan amount targets were constructed from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top features to lending logic: more stable balances usually mean greater capacity to borrow.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final evidence slide before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maturity: acknowledge limitations and avoid making unsupported deployment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confidently while reminding the professor that future work requires real repayment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Money Loan Prediction | Graph &amp; Table Explanation Deck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7955280" y="65653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exact notebook graph names shown in placeholders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7" y="841248"/>
            <a:ext cx="10273243" cy="128411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Money Loan Eligibility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Loan Amount Prediction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96995" y="2267711"/>
            <a:ext cx="8353168" cy="11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dirty="0"/>
              <a:t>Mobile money loan providers need a reliable way to decide </a:t>
            </a:r>
            <a:r>
              <a:rPr lang="en-US" sz="1200" b="1" dirty="0"/>
              <a:t>who qualifies for a loan and how much they should receive</a:t>
            </a:r>
            <a:r>
              <a:rPr lang="en-US" sz="1200" dirty="0"/>
              <a:t>. Wrong decisions can cause losses if risky customers are approved, while strict rules may reject good customers. This project uses customer transaction behavior with </a:t>
            </a:r>
            <a:r>
              <a:rPr lang="en-US" sz="1200" b="1" dirty="0"/>
              <a:t>supervised learning</a:t>
            </a:r>
            <a:r>
              <a:rPr lang="en-US" sz="1200" dirty="0"/>
              <a:t> to predict loan eligibility and loan amount, and </a:t>
            </a:r>
            <a:r>
              <a:rPr lang="en-US" sz="1200" b="1" dirty="0"/>
              <a:t>unsupervised learning</a:t>
            </a:r>
            <a:r>
              <a:rPr lang="en-US" sz="1200" dirty="0"/>
              <a:t> to group customers into risk levels for better loan decision-making.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" y="2907792"/>
            <a:ext cx="6675120" cy="3402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 smtClean="0">
                <a:solidFill>
                  <a:srgbClr val="64748B"/>
                </a:solidFill>
              </a:rPr>
              <a:t>Presenters: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64748B"/>
                </a:solidFill>
              </a:rPr>
              <a:t> </a:t>
            </a:r>
            <a:r>
              <a:rPr lang="en-US" sz="1600" b="1" dirty="0" err="1" smtClean="0">
                <a:solidFill>
                  <a:srgbClr val="64748B"/>
                </a:solidFill>
              </a:rPr>
              <a:t>Aroba</a:t>
            </a:r>
            <a:r>
              <a:rPr lang="en-US" sz="1600" b="1" dirty="0" smtClean="0">
                <a:solidFill>
                  <a:srgbClr val="64748B"/>
                </a:solidFill>
              </a:rPr>
              <a:t> </a:t>
            </a:r>
            <a:r>
              <a:rPr lang="en-US" sz="1600" b="1" dirty="0">
                <a:solidFill>
                  <a:srgbClr val="64748B"/>
                </a:solidFill>
              </a:rPr>
              <a:t>Joseph </a:t>
            </a:r>
            <a:endParaRPr lang="en-US" sz="1600" b="1" dirty="0" smtClean="0">
              <a:solidFill>
                <a:srgbClr val="64748B"/>
              </a:solidFill>
            </a:endParaRPr>
          </a:p>
          <a:p>
            <a:r>
              <a:rPr lang="en-US" sz="1600" b="1" dirty="0" smtClean="0">
                <a:solidFill>
                  <a:srgbClr val="64748B"/>
                </a:solidFill>
              </a:rPr>
              <a:t> </a:t>
            </a:r>
            <a:r>
              <a:rPr lang="en-US" sz="1600" b="1" dirty="0" err="1" smtClean="0">
                <a:solidFill>
                  <a:srgbClr val="64748B"/>
                </a:solidFill>
              </a:rPr>
              <a:t>Mwizerwa</a:t>
            </a:r>
            <a:r>
              <a:rPr lang="en-US" sz="1600" b="1" dirty="0" smtClean="0">
                <a:solidFill>
                  <a:srgbClr val="64748B"/>
                </a:solidFill>
              </a:rPr>
              <a:t> Timothy</a:t>
            </a:r>
            <a:endParaRPr lang="en-US" sz="1600" b="1" dirty="0">
              <a:solidFill>
                <a:srgbClr val="64748B"/>
              </a:solidFill>
            </a:endParaRPr>
          </a:p>
          <a:p>
            <a:r>
              <a:rPr lang="en-US" sz="1600" b="1" dirty="0">
                <a:solidFill>
                  <a:srgbClr val="64748B"/>
                </a:solidFill>
              </a:rPr>
              <a:t> </a:t>
            </a:r>
            <a:r>
              <a:rPr lang="en-US" sz="1600" b="1" dirty="0" err="1">
                <a:solidFill>
                  <a:srgbClr val="64748B"/>
                </a:solidFill>
              </a:rPr>
              <a:t>Kinda</a:t>
            </a:r>
            <a:r>
              <a:rPr lang="en-US" sz="1600" b="1" dirty="0">
                <a:solidFill>
                  <a:srgbClr val="64748B"/>
                </a:solidFill>
              </a:rPr>
              <a:t> Kelsey </a:t>
            </a:r>
            <a:r>
              <a:rPr lang="en-US" sz="1600" b="1" dirty="0" err="1">
                <a:solidFill>
                  <a:srgbClr val="64748B"/>
                </a:solidFill>
              </a:rPr>
              <a:t>Naluwafu</a:t>
            </a:r>
            <a:r>
              <a:rPr lang="en-US" sz="1600" b="1" dirty="0">
                <a:solidFill>
                  <a:srgbClr val="64748B"/>
                </a:solidFill>
              </a:rPr>
              <a:t> </a:t>
            </a:r>
          </a:p>
          <a:p>
            <a:r>
              <a:rPr lang="en-US" sz="1600" b="1" dirty="0">
                <a:solidFill>
                  <a:srgbClr val="64748B"/>
                </a:solidFill>
              </a:rPr>
              <a:t> Kato Adrian </a:t>
            </a:r>
            <a:r>
              <a:rPr lang="en-US" sz="1600" b="1" dirty="0" err="1">
                <a:solidFill>
                  <a:srgbClr val="64748B"/>
                </a:solidFill>
              </a:rPr>
              <a:t>Mugerwa</a:t>
            </a:r>
            <a:r>
              <a:rPr lang="en-US" sz="1600" b="1" dirty="0">
                <a:solidFill>
                  <a:srgbClr val="64748B"/>
                </a:solidFill>
              </a:rPr>
              <a:t> </a:t>
            </a:r>
            <a:endParaRPr lang="en-US" sz="1600" b="1" dirty="0" smtClean="0">
              <a:solidFill>
                <a:srgbClr val="64748B"/>
              </a:solidFill>
            </a:endParaRPr>
          </a:p>
          <a:p>
            <a:r>
              <a:rPr lang="en-US" sz="1600" b="1" dirty="0" smtClean="0">
                <a:solidFill>
                  <a:srgbClr val="64748B"/>
                </a:solidFill>
              </a:rPr>
              <a:t> </a:t>
            </a:r>
            <a:r>
              <a:rPr lang="en-US" sz="1600" b="1" dirty="0" err="1">
                <a:solidFill>
                  <a:srgbClr val="64748B"/>
                </a:solidFill>
              </a:rPr>
              <a:t>Naluyima</a:t>
            </a:r>
            <a:r>
              <a:rPr lang="en-US" sz="1600" b="1" dirty="0">
                <a:solidFill>
                  <a:srgbClr val="64748B"/>
                </a:solidFill>
              </a:rPr>
              <a:t> Pauline Oliver 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en-US" sz="1220" dirty="0" smtClean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220" dirty="0" smtClean="0"/>
          </a:p>
          <a:p>
            <a:pPr marL="0" indent="0">
              <a:buNone/>
            </a:pPr>
            <a:r>
              <a:rPr lang="en-US" sz="1220" dirty="0" smtClean="0">
                <a:solidFill>
                  <a:srgbClr val="64748B"/>
                </a:solidFill>
              </a:rPr>
              <a:t>Dataset</a:t>
            </a:r>
            <a:r>
              <a:rPr lang="en-US" sz="1220" dirty="0">
                <a:solidFill>
                  <a:srgbClr val="64748B"/>
                </a:solidFill>
              </a:rPr>
              <a:t>: PaySim mobile money </a:t>
            </a:r>
            <a:r>
              <a:rPr lang="en-US" sz="1220" dirty="0" smtClean="0">
                <a:solidFill>
                  <a:srgbClr val="64748B"/>
                </a:solidFill>
              </a:rPr>
              <a:t>transactions </a:t>
            </a:r>
            <a:r>
              <a:rPr lang="en-US" sz="1220" dirty="0">
                <a:solidFill>
                  <a:srgbClr val="64748B"/>
                </a:solidFill>
              </a:rPr>
              <a:t>| Tools: Python, cuDF/cuML, scikit-learn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500" u="sng" dirty="0"/>
          </a:p>
        </p:txBody>
      </p:sp>
      <p:sp>
        <p:nvSpPr>
          <p:cNvPr id="5" name="Text 3"/>
          <p:cNvSpPr/>
          <p:nvPr/>
        </p:nvSpPr>
        <p:spPr>
          <a:xfrm>
            <a:off x="777240" y="12527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20700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334155"/>
                </a:solidFill>
              </a:rPr>
              <a:t>Research problem and business motivation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83794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334155"/>
                </a:solidFill>
              </a:rPr>
              <a:t>Data preparation and customer-level modelling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4688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334155"/>
                </a:solidFill>
              </a:rPr>
              <a:t>EDA graph explanations and feature insights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777240" y="3145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30998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334155"/>
                </a:solidFill>
              </a:rPr>
              <a:t>Clustering results and risk interpretation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777240" y="3776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7307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334155"/>
                </a:solidFill>
              </a:rPr>
              <a:t>Classification table, ROC, confusion matrix, and cross-validation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777240" y="4407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43616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334155"/>
                </a:solidFill>
              </a:rPr>
              <a:t>Regression table, diagnostics, and critical reflection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problem and motivation</a:t>
            </a:r>
            <a:endParaRPr lang="en-US" sz="2500" u="sng" dirty="0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594360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money lenders need to decide both loan eligibility and loan amount using customer transaction behaviour.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builds a hybrid ML workflow: clustering for risk groups, classification for eligibility, regression for loan limit.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value is faster and more consistent credit scoring for customers with limited formal banking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12164" y="3977640"/>
            <a:ext cx="1920240" cy="768096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85316" y="408736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03604" y="4434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outputs: risk, eligibility, amount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37660" y="3977640"/>
            <a:ext cx="2057400" cy="768096"/>
          </a:xfrm>
          <a:prstGeom prst="roundRect">
            <a:avLst>
              <a:gd name="adj" fmla="val 11905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10812" y="4087368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50,000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29100" y="4434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sample used for modelling graphs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178040" y="397764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51192" y="4087368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6.35M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6948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customer rows before sample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39" y="869358"/>
            <a:ext cx="4922947" cy="26968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</a:t>
            </a:r>
            <a:r>
              <a:rPr lang="en-US" sz="2000" dirty="0" smtClean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2798064"/>
            <a:ext cx="493776" cy="0"/>
          </a:xfrm>
          <a:prstGeom prst="line">
            <a:avLst/>
          </a:prstGeom>
          <a:noFill/>
          <a:ln w="1460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66160" y="2798064"/>
            <a:ext cx="493776" cy="0"/>
          </a:xfrm>
          <a:prstGeom prst="line">
            <a:avLst/>
          </a:prstGeom>
          <a:noFill/>
          <a:ln w="1460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03520" y="2798064"/>
            <a:ext cx="493776" cy="0"/>
          </a:xfrm>
          <a:prstGeom prst="line">
            <a:avLst/>
          </a:prstGeom>
          <a:noFill/>
          <a:ln w="1460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40880" y="2798064"/>
            <a:ext cx="493776" cy="0"/>
          </a:xfrm>
          <a:prstGeom prst="line">
            <a:avLst/>
          </a:prstGeom>
          <a:noFill/>
          <a:ln w="1460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778240" y="2798064"/>
            <a:ext cx="493776" cy="0"/>
          </a:xfrm>
          <a:prstGeom prst="line">
            <a:avLst/>
          </a:prstGeom>
          <a:noFill/>
          <a:ln w="1460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2148840"/>
            <a:ext cx="1243584" cy="123444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Raw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transactions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2148840"/>
            <a:ext cx="12435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Cleaning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+ EDA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2148840"/>
            <a:ext cx="12435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148840"/>
            <a:ext cx="1243584" cy="123444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K-Means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risk groups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43800" y="2148840"/>
            <a:ext cx="1243584" cy="123444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Classify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eligibility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81160" y="2148840"/>
            <a:ext cx="1243584" cy="123444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505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Regress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loan amount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3815026"/>
            <a:ext cx="6035040" cy="134935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GPU/cuML: </a:t>
            </a:r>
            <a:r>
              <a:rPr lang="en-US" sz="1400" dirty="0" smtClean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K-Means 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PCA for scalable clustering visualisation.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scikit-learn: </a:t>
            </a:r>
            <a:r>
              <a:rPr lang="en-US" sz="1400" dirty="0" smtClean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Logistic 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Regression, Decision Tree, Random Forest, Gradient Boosting, </a:t>
            </a:r>
            <a:r>
              <a:rPr lang="en-US" sz="1400" dirty="0" smtClean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SVM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KNN, and regression models.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decision: combine statistical evidence with model comparison tables.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preparation and inspection</a:t>
            </a:r>
            <a:endParaRPr lang="en-US" sz="2500" u="sng" dirty="0"/>
          </a:p>
        </p:txBody>
      </p:sp>
      <p:sp>
        <p:nvSpPr>
          <p:cNvPr id="5" name="Text 3"/>
          <p:cNvSpPr/>
          <p:nvPr/>
        </p:nvSpPr>
        <p:spPr>
          <a:xfrm>
            <a:off x="685800" y="1133856"/>
            <a:ext cx="58064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raw transaction data was cleaned and aggregated from transaction-level records to customer-level profiles.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Fraud-related fields were removed so the target focuses on loan scoring rather than fraud detection.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aggregation improves modelling because each row represents a borrower profile, not a single transaction.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703320"/>
            <a:ext cx="2057400" cy="39319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794760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Notebook evidence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807208" y="3703320"/>
            <a:ext cx="3840480" cy="39319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3794760"/>
            <a:ext cx="3730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Value / meaning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749808" y="4096512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187952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Original customer_df size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807208" y="4096512"/>
            <a:ext cx="3840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4187952"/>
            <a:ext cx="3730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6,353,307 rows × 25 columns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49808" y="4489704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581144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Clustering sample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807208" y="4489704"/>
            <a:ext cx="3840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4581144"/>
            <a:ext cx="3730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50,000 customers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49808" y="4882896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74336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Supervised learning rows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807208" y="4882896"/>
            <a:ext cx="3840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4974336"/>
            <a:ext cx="3730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50,000 rows after target cleanup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49808" y="5276088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367528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Target distribution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807208" y="5276088"/>
            <a:ext cx="3840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5367528"/>
            <a:ext cx="3730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36,626 eligible; 13,374 not eligible</a:t>
            </a:r>
            <a:endParaRPr lang="en-US" sz="8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735" y="603504"/>
            <a:ext cx="2809103" cy="467258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424" y="5559524"/>
            <a:ext cx="2385267" cy="320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graph placement guide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3246120" cy="4206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0700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Exact notebook graph name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904488" y="1115568"/>
            <a:ext cx="7269480" cy="4206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9352" y="120700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What to say when presenting it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58368" y="1536192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2763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Missing Values Heatmap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3904488" y="1536192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162763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whether preprocessing left missing values that could affect model reliability.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1956816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4825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Correlation Heatmap for Numerical Transaction Features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904488" y="1956816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2048256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linear relationships among numeric transaction variables.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58368" y="2377440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4688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Boxplot of Log-Transformed Transaction Amount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904488" y="2377440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2468880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outliers after log transformation.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58368" y="2798064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8895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Transaction Amount vs Origin Account Balance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904488" y="2798064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9352" y="288950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relationship between customer balance and transaction size.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58368" y="3218688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3101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Pairplot of Key Log-Transformed Financial Features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904488" y="3218688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9352" y="331012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pairwise structure among core financial variables.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58368" y="3639312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73075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Distribution of Transaction Amounts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904488" y="3639312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9352" y="373075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skewness; supports use of log(1 + amount).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658368" y="4059936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15137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Transaction Type Distribution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3904488" y="4059936"/>
            <a:ext cx="7269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59352" y="4151376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Shows behavioral mix: CASH_IN, CASH_OUT, PAYMENT, TRANSFER, DEBIT.</a:t>
            </a:r>
            <a:endParaRPr lang="en-US" sz="84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interpretation: why the graphs matter</a:t>
            </a:r>
            <a:endParaRPr lang="en-US" sz="2500" u="sng" dirty="0"/>
          </a:p>
        </p:txBody>
      </p:sp>
      <p:sp>
        <p:nvSpPr>
          <p:cNvPr id="17" name="Text 15"/>
          <p:cNvSpPr/>
          <p:nvPr/>
        </p:nvSpPr>
        <p:spPr>
          <a:xfrm>
            <a:off x="896112" y="4586618"/>
            <a:ext cx="98755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amounts are highly skewed, so log transformation makes patterns easier to model and visualize.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checks show whether extreme values could dominate distance-based models such as K-Means and KNN.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heatmaps help detect predictive relationships and possible leakage before supervised learning.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082" y="1106424"/>
            <a:ext cx="4030675" cy="306453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78" y="1106424"/>
            <a:ext cx="4031222" cy="300837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1179576"/>
            <a:ext cx="3596435" cy="3055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 and target construction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50876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32588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Feature group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194560" y="1234440"/>
            <a:ext cx="251460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9424" y="132588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Examples from notebook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269748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32588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Purpose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85800" y="1673352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764792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Activity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194560" y="1673352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76479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transaction_count, total_transaction_amount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709160" y="1673352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764792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Measures customer usage level.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85800" y="2112264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203704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Amount behaviour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194560" y="2112264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9424" y="220370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avg, max, std transaction amount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709160" y="2112264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220370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Captures scale and volatility.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85800" y="255117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264261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Balance capacity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2194560" y="2551176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9424" y="264261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avg_oldbalance_org, avg_newbalance_orig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709160" y="2551176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2642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Approximates affordability/liquidity.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85800" y="2990088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3081528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Cash-flow pressure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194560" y="2990088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9424" y="3081528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avg_cash_flow_ratio, max_cash_flow_ratio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4709160" y="2990088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3081528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Measures pressure between transaction size and balance.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85800" y="342900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352044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34155"/>
                </a:solidFill>
              </a:rPr>
              <a:t>Transaction mix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2194560" y="3429000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9424" y="352044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type_ratio_CASH_IN, PAYMENT, TRANSFER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4709160" y="3429000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352044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Represents financial behaviour composition.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822960" y="4069080"/>
            <a:ext cx="6126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target thresholds: transaction threshold = 1, balance threshold = 0.0, cash-flow threshold = 2.2243.</a:t>
            </a:r>
            <a:endParaRPr lang="en-US" sz="1310" dirty="0"/>
          </a:p>
          <a:p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target construction, the sample had 36,626 eligible customers and 13,374 non-eligible customers.</a:t>
            </a:r>
            <a:endParaRPr lang="en-US" sz="1310" dirty="0"/>
          </a:p>
          <a:p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columns were removed before classification to avoid over-optimistic model performance.</a:t>
            </a:r>
            <a:endParaRPr lang="en-US" sz="131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learning results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621792" y="1143000"/>
            <a:ext cx="28346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23444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Clustering method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456432" y="1143000"/>
            <a:ext cx="114300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123444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Silhouette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99432" y="1143000"/>
            <a:ext cx="15087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234440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Calinski-Harabasz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108192" y="1143000"/>
            <a:ext cx="132588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123444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Davies-Bouldin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434072" y="1143000"/>
            <a:ext cx="39319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2344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Interpretation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21792" y="1618488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17099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K-Means (GPU, 50,000 sample)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456432" y="1618488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1296" y="170992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0.5625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599432" y="1618488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17099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18,233.99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108192" y="1618488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70992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1.1162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434072" y="161848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17099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Best separation; selected for risk groups.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21792" y="2093976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218541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Agglomerative Clustering (CPU)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456432" y="2093976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2185416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0.4657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599432" y="209397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218541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16,232.29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108192" y="2093976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18541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1.2391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434072" y="2093976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88936" y="218541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Second best but less scalable.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21792" y="2569464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266090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Gaussian Mixture Model (CPU)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3456432" y="2569464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2660904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0.3511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599432" y="2569464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54296" y="266090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10,011.83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108192" y="2569464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266090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1.6639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7434072" y="256946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88936" y="266090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Weakest separation.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254000" y="3342640"/>
            <a:ext cx="2899090" cy="3139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is higher for K-Means, meaning customers are more clearly separated into clusters.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Davies–Bouldin is lowest for K-Means, supporting the same conclusion from another metric.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provides evidence for using K-Means clusters as risk-group input.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555" y="3133948"/>
            <a:ext cx="8721205" cy="3635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graph placement and risk interpretation</a:t>
            </a:r>
            <a:endParaRPr lang="en-US" sz="2500" u="sng" dirty="0"/>
          </a:p>
        </p:txBody>
      </p:sp>
      <p:sp>
        <p:nvSpPr>
          <p:cNvPr id="17" name="Shape 15"/>
          <p:cNvSpPr/>
          <p:nvPr/>
        </p:nvSpPr>
        <p:spPr>
          <a:xfrm>
            <a:off x="749808" y="3886200"/>
            <a:ext cx="1051560" cy="4206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9776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Cluster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801368" y="3886200"/>
            <a:ext cx="1280160" cy="4206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56232" y="39776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Count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081528" y="3886200"/>
            <a:ext cx="1828800" cy="4206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39776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Risk interpretation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910328" y="3886200"/>
            <a:ext cx="5760720" cy="420624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977640"/>
            <a:ext cx="565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Why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49808" y="4306824"/>
            <a:ext cx="1051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398264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1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801368" y="4306824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43982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43,114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3081528" y="430682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439826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Medium Risk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910328" y="4306824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4398264"/>
            <a:ext cx="565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Largest group; moderate behaviour profile.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49808" y="4727448"/>
            <a:ext cx="1051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818888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0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1801368" y="4727448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56232" y="481888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3,622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3081528" y="472744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48188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Low Risk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910328" y="4727448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818888"/>
            <a:ext cx="565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Lower cash-flow pressure and stronger balance profile.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49808" y="5148072"/>
            <a:ext cx="1051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523951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2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1801368" y="5148072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56232" y="523951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3,264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3081528" y="514807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392" y="52395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High Risk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4910328" y="5148072"/>
            <a:ext cx="5760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5239512"/>
            <a:ext cx="565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Highest cash-flow pressure and high transaction scale.</a:t>
            </a:r>
            <a:endParaRPr lang="en-US" sz="84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472" y="1295927"/>
            <a:ext cx="3668688" cy="2379961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11422"/>
            <a:ext cx="3568786" cy="2409739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146" y="1142999"/>
            <a:ext cx="3589596" cy="2386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model comparison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594360" y="1243584"/>
            <a:ext cx="242316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33502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Model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017520" y="1243584"/>
            <a:ext cx="107899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3350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Accuracy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096512" y="1243584"/>
            <a:ext cx="107899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51376" y="13350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Precision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175504" y="1243584"/>
            <a:ext cx="107899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3350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Recall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254496" y="1243584"/>
            <a:ext cx="107899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350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F1 Score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333488" y="1243584"/>
            <a:ext cx="107899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13350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ROC-AUC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" y="1609344"/>
            <a:ext cx="2423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170078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34155"/>
                </a:solidFill>
              </a:rPr>
              <a:t>Random Forest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017520" y="16093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17007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0.9960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096512" y="16093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1376" y="17007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0.9972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175504" y="16093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7007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0.9974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254496" y="16093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7007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0.9973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7333488" y="16093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7007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0.9999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94360" y="1975104"/>
            <a:ext cx="2423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206654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34155"/>
                </a:solidFill>
              </a:rPr>
              <a:t>Gradient Boosting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017520" y="197510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72384" y="20665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0.9925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096512" y="197510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51376" y="20665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0.9953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175504" y="197510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20665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0.9945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6254496" y="197510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0665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0.9949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7333488" y="197510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88352" y="20665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0.9992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94360" y="2340864"/>
            <a:ext cx="2423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243230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34155"/>
                </a:solidFill>
              </a:rPr>
              <a:t>Decision Tree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017520" y="234086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2384" y="24323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0.9619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4096512" y="234086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51376" y="24323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0.9636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5175504" y="234086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0368" y="24323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0.9852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6254496" y="234086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24323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0.9743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7333488" y="234086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88352" y="24323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0.9912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594360" y="2706624"/>
            <a:ext cx="2423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" y="279806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34155"/>
                </a:solidFill>
              </a:rPr>
              <a:t>K-Nearest Neighbors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3017520" y="270662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72384" y="279806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0.9385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4096512" y="270662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51376" y="279806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0.9420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5175504" y="270662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0368" y="279806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0.9761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6254496" y="270662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279806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0.9587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7333488" y="270662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88352" y="279806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0.9526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594360" y="3072384"/>
            <a:ext cx="2423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" y="316382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34155"/>
                </a:solidFill>
              </a:rPr>
              <a:t>Support Vector Machine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3017520" y="307238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72384" y="31638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0.8498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4096512" y="307238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51376" y="31638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0.8495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5175504" y="307238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30368" y="31638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0.9661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6254496" y="307238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09360" y="31638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0.9041</a:t>
            </a:r>
            <a:endParaRPr lang="en-US" sz="830" dirty="0"/>
          </a:p>
        </p:txBody>
      </p:sp>
      <p:sp>
        <p:nvSpPr>
          <p:cNvPr id="75" name="Shape 73"/>
          <p:cNvSpPr/>
          <p:nvPr/>
        </p:nvSpPr>
        <p:spPr>
          <a:xfrm>
            <a:off x="7333488" y="307238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88352" y="31638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0.8996</a:t>
            </a:r>
            <a:endParaRPr lang="en-US" sz="830" dirty="0"/>
          </a:p>
        </p:txBody>
      </p:sp>
      <p:sp>
        <p:nvSpPr>
          <p:cNvPr id="77" name="Shape 75"/>
          <p:cNvSpPr/>
          <p:nvPr/>
        </p:nvSpPr>
        <p:spPr>
          <a:xfrm>
            <a:off x="594360" y="3438144"/>
            <a:ext cx="2423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" y="352958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34155"/>
                </a:solidFill>
              </a:rPr>
              <a:t>Logistic Regression</a:t>
            </a:r>
            <a:endParaRPr lang="en-US" sz="830" dirty="0"/>
          </a:p>
        </p:txBody>
      </p:sp>
      <p:sp>
        <p:nvSpPr>
          <p:cNvPr id="79" name="Shape 77"/>
          <p:cNvSpPr/>
          <p:nvPr/>
        </p:nvSpPr>
        <p:spPr>
          <a:xfrm>
            <a:off x="3017520" y="34381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72384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0.8134</a:t>
            </a:r>
            <a:endParaRPr lang="en-US" sz="830" dirty="0"/>
          </a:p>
        </p:txBody>
      </p:sp>
      <p:sp>
        <p:nvSpPr>
          <p:cNvPr id="81" name="Shape 79"/>
          <p:cNvSpPr/>
          <p:nvPr/>
        </p:nvSpPr>
        <p:spPr>
          <a:xfrm>
            <a:off x="4096512" y="34381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51376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0.8449</a:t>
            </a:r>
            <a:endParaRPr lang="en-US" sz="830" dirty="0"/>
          </a:p>
        </p:txBody>
      </p:sp>
      <p:sp>
        <p:nvSpPr>
          <p:cNvPr id="83" name="Shape 81"/>
          <p:cNvSpPr/>
          <p:nvPr/>
        </p:nvSpPr>
        <p:spPr>
          <a:xfrm>
            <a:off x="5175504" y="34381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30368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0.9128</a:t>
            </a:r>
            <a:endParaRPr lang="en-US" sz="830" dirty="0"/>
          </a:p>
        </p:txBody>
      </p:sp>
      <p:sp>
        <p:nvSpPr>
          <p:cNvPr id="85" name="Shape 83"/>
          <p:cNvSpPr/>
          <p:nvPr/>
        </p:nvSpPr>
        <p:spPr>
          <a:xfrm>
            <a:off x="6254496" y="34381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0.8776</a:t>
            </a:r>
            <a:endParaRPr lang="en-US" sz="830" dirty="0"/>
          </a:p>
        </p:txBody>
      </p:sp>
      <p:sp>
        <p:nvSpPr>
          <p:cNvPr id="87" name="Shape 85"/>
          <p:cNvSpPr/>
          <p:nvPr/>
        </p:nvSpPr>
        <p:spPr>
          <a:xfrm>
            <a:off x="7333488" y="34381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88352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0.8723</a:t>
            </a:r>
            <a:endParaRPr lang="en-US" sz="830" dirty="0"/>
          </a:p>
        </p:txBody>
      </p:sp>
      <p:sp>
        <p:nvSpPr>
          <p:cNvPr id="89" name="Text 87"/>
          <p:cNvSpPr/>
          <p:nvPr/>
        </p:nvSpPr>
        <p:spPr>
          <a:xfrm>
            <a:off x="8898236" y="1243584"/>
            <a:ext cx="3068924" cy="242340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performed best with F1 = 0.9973 and ROC-AUC = 0.9999.</a:t>
            </a:r>
            <a:endParaRPr lang="en-US" sz="1280" dirty="0"/>
          </a:p>
          <a:p>
            <a:pPr>
              <a:lnSpc>
                <a:spcPct val="150000"/>
              </a:lnSpc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was close, but Random Forest had the strongest balance of precision and recall.</a:t>
            </a:r>
            <a:endParaRPr lang="en-US" sz="1280" dirty="0"/>
          </a:p>
          <a:p>
            <a:pPr>
              <a:lnSpc>
                <a:spcPct val="150000"/>
              </a:lnSpc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loan approval, F1 and precision are important because false approvals can create financial loss.</a:t>
            </a:r>
            <a:endParaRPr lang="en-US" sz="1280" dirty="0"/>
          </a:p>
        </p:txBody>
      </p:sp>
      <p:sp>
        <p:nvSpPr>
          <p:cNvPr id="9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3840481"/>
            <a:ext cx="4822760" cy="3024912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324" y="4127630"/>
            <a:ext cx="3592902" cy="2278630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28" y="4013772"/>
            <a:ext cx="3110079" cy="2240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eligibility model: Random Forest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645920" cy="768096"/>
          </a:xfrm>
          <a:prstGeom prst="roundRect">
            <a:avLst>
              <a:gd name="adj" fmla="val 1190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25272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0.9973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F1 Score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645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125272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0.9972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97480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Precision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480560" y="1143000"/>
            <a:ext cx="1645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25272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0.9974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Recall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355080" y="1143000"/>
            <a:ext cx="1645920" cy="768096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125272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0.9999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ROC-AUC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77240" y="2423160"/>
            <a:ext cx="608076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captured non-linear relationships and feature interactions better than linear models.</a:t>
            </a:r>
            <a:endParaRPr lang="en-US" sz="1340" dirty="0"/>
          </a:p>
          <a:p>
            <a:r>
              <a:rPr lang="en-US" sz="13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with Logistic Regression (F1 = 0.8776), Random Forest improved eligibility classification substantially.</a:t>
            </a:r>
            <a:endParaRPr lang="en-US" sz="1340" dirty="0"/>
          </a:p>
          <a:p>
            <a:r>
              <a:rPr lang="en-US" sz="13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with Gradient Boosting (F1 = 0.9949), Random Forest still had the highest F1 and ROC-AUC.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151" y="2020824"/>
            <a:ext cx="3901778" cy="176799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472" y="3788817"/>
            <a:ext cx="4106975" cy="29625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820" y="242316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Cross-validation: generalization check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2423160" cy="39319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07008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Model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081528" y="1115568"/>
            <a:ext cx="1234440" cy="39319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20700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Mean CV F1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315968" y="1115568"/>
            <a:ext cx="1234440" cy="39319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20700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Std CV F1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550408" y="1115568"/>
            <a:ext cx="4663440" cy="39319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272" y="1207008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Meaning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58368" y="1508760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600200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Random Forest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081528" y="1508760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6002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0.9978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315968" y="1508760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6002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0.0003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550408" y="1508760"/>
            <a:ext cx="4663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05272" y="1600200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Most stable and best-performing model.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58368" y="1901952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1993392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Gradient Boosting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081528" y="1901952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6392" y="199339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0.9951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315968" y="1901952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199339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0.0005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550408" y="1901952"/>
            <a:ext cx="4663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5272" y="1993392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Very strong alternative.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58368" y="2295144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386584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Decision Tree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081528" y="2295144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238658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0.9700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315968" y="2295144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38658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0.0039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550408" y="2295144"/>
            <a:ext cx="4663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5272" y="2386584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Good but less stable than ensembles.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658368" y="2688336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2779776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KNN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3081528" y="2688336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392" y="277977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0.9579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315968" y="2688336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0832" y="277977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0.0013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550408" y="2688336"/>
            <a:ext cx="4663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2779776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Reasonable but weaker.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58368" y="3081528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3172968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SVM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3081528" y="3081528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36392" y="317296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0.9047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4315968" y="3081528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70832" y="317296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0.0027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5550408" y="3081528"/>
            <a:ext cx="4663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05272" y="3172968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Moderate.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658368" y="3474720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3566160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Logistic Regression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3081528" y="3474720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36392" y="356616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0.8736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4315968" y="3474720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356616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0.0037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5550408" y="3474720"/>
            <a:ext cx="4663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05272" y="3566160"/>
            <a:ext cx="4553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Lowest CV F1.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04672" y="4343400"/>
            <a:ext cx="5641848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5-fold CV result confirms Random Forest performance is consistent across data splits.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standard deviation (0.0003) means the model is not highly sensitive to a single train/test split.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452360" y="40599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543800" y="4334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50" dirty="0"/>
          </a:p>
        </p:txBody>
      </p:sp>
      <p:sp>
        <p:nvSpPr>
          <p:cNvPr id="65" name="Text 63"/>
          <p:cNvSpPr/>
          <p:nvPr/>
        </p:nvSpPr>
        <p:spPr>
          <a:xfrm>
            <a:off x="7543800" y="4745736"/>
            <a:ext cx="3383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953" y="3959352"/>
            <a:ext cx="5412070" cy="2822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model comparison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25146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3502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Model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3063240" y="1243584"/>
            <a:ext cx="107899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8104" y="13350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MAE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142232" y="1243584"/>
            <a:ext cx="11430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7096" y="13350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RMSE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285232" y="1243584"/>
            <a:ext cx="11430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13350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R² Score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28232" y="1243584"/>
            <a:ext cx="461772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33502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Interpretation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48640" y="1609344"/>
            <a:ext cx="2514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70078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334155"/>
                </a:solidFill>
              </a:rPr>
              <a:t>Random Forest Regressor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3063240" y="16093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7007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126.38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142232" y="160934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7096" y="170078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868.98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285232" y="160934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0096" y="170078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0.999972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6428232" y="1609344"/>
            <a:ext cx="4617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170078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Best: lowest RMSE and highest accuracy.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548640" y="1975104"/>
            <a:ext cx="2514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20665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334155"/>
                </a:solidFill>
              </a:rPr>
              <a:t>Gradient Boosting Regressor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3063240" y="197510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8104" y="206654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568.41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142232" y="197510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206654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1,414.18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285232" y="197510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0096" y="206654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0.999926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6428232" y="1975104"/>
            <a:ext cx="4617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206654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Strong second option.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548640" y="2340864"/>
            <a:ext cx="2514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4323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334155"/>
                </a:solidFill>
              </a:rPr>
              <a:t>Decision Tree Regressor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3063240" y="234086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24323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2,977.80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4142232" y="234086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97096" y="243230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4,777.80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5285232" y="234086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0096" y="243230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0.999151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6428232" y="2340864"/>
            <a:ext cx="4617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243230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Good fit but higher error.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548640" y="2706624"/>
            <a:ext cx="2514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" y="279806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334155"/>
                </a:solidFill>
              </a:rPr>
              <a:t>KNN Regressor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3063240" y="270662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18104" y="279806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2,162.57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4142232" y="270662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97096" y="279806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12,918.95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5285232" y="270662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0096" y="279806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0.993789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6428232" y="2706624"/>
            <a:ext cx="4617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3096" y="279806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Large RMSE; less reliable.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548640" y="3072384"/>
            <a:ext cx="2514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" y="316382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334155"/>
                </a:solidFill>
              </a:rPr>
              <a:t>Ridge Regression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3063240" y="307238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18104" y="316382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34,135.85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4142232" y="307238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97096" y="31638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59,437.79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5285232" y="307238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40096" y="31638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0.868538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6428232" y="3072384"/>
            <a:ext cx="4617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83096" y="316382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Linear model underfits.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548640" y="3438144"/>
            <a:ext cx="2514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3504" y="352958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334155"/>
                </a:solidFill>
              </a:rPr>
              <a:t>Linear Regression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3063240" y="3438144"/>
            <a:ext cx="10789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18104" y="3529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34,165.81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4142232" y="343814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97096" y="352958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59,477.38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5285232" y="3438144"/>
            <a:ext cx="1143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40096" y="352958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0.868363</a:t>
            </a:r>
            <a:endParaRPr lang="en-US" sz="810" dirty="0"/>
          </a:p>
        </p:txBody>
      </p:sp>
      <p:sp>
        <p:nvSpPr>
          <p:cNvPr id="73" name="Shape 71"/>
          <p:cNvSpPr/>
          <p:nvPr/>
        </p:nvSpPr>
        <p:spPr>
          <a:xfrm>
            <a:off x="6428232" y="3438144"/>
            <a:ext cx="4617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83096" y="352958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Weakest regression option.</a:t>
            </a:r>
            <a:endParaRPr lang="en-US" sz="810" dirty="0"/>
          </a:p>
        </p:txBody>
      </p:sp>
      <p:sp>
        <p:nvSpPr>
          <p:cNvPr id="75" name="Text 73"/>
          <p:cNvSpPr/>
          <p:nvPr/>
        </p:nvSpPr>
        <p:spPr>
          <a:xfrm>
            <a:off x="777240" y="4343400"/>
            <a:ext cx="59893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Regressor is selected because it has the lowest RMSE = 868.98 and MAE = 126.38.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and Ridge models underperformed, showing that the loan amount relationship is non-linear.</a:t>
            </a:r>
            <a:endParaRPr lang="en-US" sz="1280" dirty="0"/>
          </a:p>
        </p:txBody>
      </p:sp>
      <p:sp>
        <p:nvSpPr>
          <p:cNvPr id="77" name="Text 75"/>
          <p:cNvSpPr/>
          <p:nvPr/>
        </p:nvSpPr>
        <p:spPr>
          <a:xfrm>
            <a:off x="7498080" y="404164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b="1" dirty="0">
              <a:solidFill>
                <a:srgbClr val="64748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589520" y="43159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50" dirty="0"/>
          </a:p>
        </p:txBody>
      </p:sp>
      <p:sp>
        <p:nvSpPr>
          <p:cNvPr id="79" name="Text 77"/>
          <p:cNvSpPr/>
          <p:nvPr/>
        </p:nvSpPr>
        <p:spPr>
          <a:xfrm>
            <a:off x="7589520" y="4727448"/>
            <a:ext cx="3337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920" dirty="0">
              <a:solidFill>
                <a:srgbClr val="64748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867150"/>
            <a:ext cx="4800600" cy="2990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loan amount model: Random Forest Regressor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463040" cy="768096"/>
          </a:xfrm>
          <a:prstGeom prst="roundRect">
            <a:avLst>
              <a:gd name="adj" fmla="val 1190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298448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126.38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395728" y="1188720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9844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868.98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87168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RMSE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187952" y="1188720"/>
            <a:ext cx="1645920" cy="768096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61104" y="129844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0.999972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79392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R² Score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585216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predicts eligible loan amount with much lower error than linear models.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Actual-vs-predicted points should lie close to the diagonal line if predictions are strong.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Residuals should be centered around zero; major patterns would suggest model bias.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target is engineered, the very high R² should be interpreted carefully.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452360" y="133502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543800" y="16093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43800" y="2020824"/>
            <a:ext cx="342900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12" y="1106425"/>
            <a:ext cx="4063539" cy="282610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812" y="4028870"/>
            <a:ext cx="4359348" cy="2782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importance: why the model predicts eligibility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621792" y="1143000"/>
            <a:ext cx="7315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234440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Rank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1353312" y="1143000"/>
            <a:ext cx="27432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123444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Feature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096512" y="1143000"/>
            <a:ext cx="11887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51376" y="123444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Importance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285232" y="1143000"/>
            <a:ext cx="50749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1234440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Meaning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21792" y="1572768"/>
            <a:ext cx="731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664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1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1353312" y="1572768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1664208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max_oldbalance_org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096512" y="1572768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51376" y="1664208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0.1764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85232" y="1572768"/>
            <a:ext cx="5074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1664208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Maximum origin balance strongly signals capacity.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21792" y="2002536"/>
            <a:ext cx="731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093976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2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1353312" y="2002536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8176" y="2093976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avg_oldbalance_org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096512" y="2002536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1376" y="2093976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0.1675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285232" y="2002536"/>
            <a:ext cx="5074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0096" y="2093976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Average balance reflects customer affordability.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21792" y="2432304"/>
            <a:ext cx="731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2523744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3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1353312" y="2432304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" y="2523744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avg_origin_balance_change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096512" y="2432304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51376" y="252374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0.1023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285232" y="2432304"/>
            <a:ext cx="5074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2523744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Balance movement supports risk/eligibility decision.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621792" y="2862072"/>
            <a:ext cx="731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" y="2953512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4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353312" y="2862072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08176" y="2953512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total_origin_balance_change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096512" y="2862072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51376" y="2953512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0.0956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285232" y="2862072"/>
            <a:ext cx="5074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0096" y="2953512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Total change captures account activity.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21792" y="3291840"/>
            <a:ext cx="731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3383280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5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1353312" y="3291840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8176" y="338328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avg_newbalance_orig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4096512" y="3291840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51376" y="338328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0.0695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5285232" y="3291840"/>
            <a:ext cx="5074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0096" y="3383280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Post-transaction balance indicates remaining capacity.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804672" y="3977640"/>
            <a:ext cx="507492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classifier is not a complete black box because feature importance shows which variables drive decisions.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Balance-related features dominate, which is logical for credit scoring because they represent affordability.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40880" y="44897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32320" y="476402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7132320" y="5175504"/>
            <a:ext cx="3794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195" y="3733357"/>
            <a:ext cx="5290111" cy="3054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results table and academic interpretation</a:t>
            </a:r>
            <a:endParaRPr lang="en-US" sz="2500" u="sng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205740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19476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Task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624328" y="1143000"/>
            <a:ext cx="242316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234440"/>
            <a:ext cx="2313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Best method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047488" y="1143000"/>
            <a:ext cx="251460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234440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Value obtained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7562088" y="1143000"/>
            <a:ext cx="457200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1234440"/>
            <a:ext cx="4462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Academic interpretation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66928" y="164592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737360"/>
            <a:ext cx="19476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Clustering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24328" y="1645920"/>
            <a:ext cx="2423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737360"/>
            <a:ext cx="2313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K-Means (GPU, 50,000 sample)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47488" y="1645920"/>
            <a:ext cx="2514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737360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Silhouette = 0.5625; DB = 1.1162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62088" y="164592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1737360"/>
            <a:ext cx="4462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Best separation of customer risk groups.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214884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40280"/>
            <a:ext cx="19476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Eligibility classification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24328" y="2148840"/>
            <a:ext cx="2423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240280"/>
            <a:ext cx="2313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47488" y="2148840"/>
            <a:ext cx="2514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240280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F1 = 0.9973; ROC-AUC = 0.9999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62088" y="214884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2240280"/>
            <a:ext cx="4462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Best at separating eligible vs non-eligible customers.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265176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743200"/>
            <a:ext cx="19476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Cross-validation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24328" y="2651760"/>
            <a:ext cx="2423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2743200"/>
            <a:ext cx="2313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47488" y="2651760"/>
            <a:ext cx="2514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2743200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Mean CV F1 = 0.9978 ± 0.0003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562088" y="265176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2743200"/>
            <a:ext cx="4462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Performance is stable across folds.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6928" y="315468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246120"/>
            <a:ext cx="19476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Loan amount regression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24328" y="3154680"/>
            <a:ext cx="2423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79192" y="3246120"/>
            <a:ext cx="2313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Random Forest Regressor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47488" y="3154680"/>
            <a:ext cx="2514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246120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RMSE = 868.98; R² = 0.999972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562088" y="315468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16952" y="3246120"/>
            <a:ext cx="4462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Best loan-limit estimator among tested models.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" y="4197096"/>
            <a:ext cx="5685591" cy="17918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Tree-based ensemble models were strongest because they handle non-linear financial behavior.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should be presented as an academic prototype because the targets are engineered, not real repayment outcomes.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543800" y="40325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635240" y="40325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7635240" y="4718304"/>
            <a:ext cx="3291840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31" y="3657600"/>
            <a:ext cx="5774664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 smtClean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analysis</a:t>
            </a:r>
            <a:endParaRPr lang="en-US" sz="2500" u="sng" dirty="0"/>
          </a:p>
        </p:txBody>
      </p:sp>
      <p:sp>
        <p:nvSpPr>
          <p:cNvPr id="5" name="Text 3"/>
          <p:cNvSpPr/>
          <p:nvPr/>
        </p:nvSpPr>
        <p:spPr>
          <a:xfrm>
            <a:off x="1944129" y="1276864"/>
            <a:ext cx="7677665" cy="270077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Strength: full ML workflow with EDA, feature engineering, clustering, classification, regression, evaluation, and explainability.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Limitation: PaySim is synthetic; real lending needs repayment/default labels, not engineered targets.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Limitation: very high scores may reflect constructed labels and feature relationships, so results should not be oversold.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Future work: add time-window features, repayment history, fairness testing, calibration, monitoring, and real deployment validation.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9808" y="4434840"/>
            <a:ext cx="246888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52628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Professor question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218688" y="4434840"/>
            <a:ext cx="658368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4526280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Strong answer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49808" y="4800600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89204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Why Random Forest?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218688" y="4800600"/>
            <a:ext cx="6583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4892040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Best F1, ROC-AUC, CV F1, and non-linear feature handling.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49808" y="5166360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2578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Why K-Means?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3218688" y="5166360"/>
            <a:ext cx="6583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5257800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Best Silhouette and lowest Davies–Bouldin score.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49808" y="5532120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62356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34155"/>
                </a:solidFill>
              </a:rPr>
              <a:t>Why caution?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3218688" y="5532120"/>
            <a:ext cx="6583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5623560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Synthetic data and engineered labels can inflate performance.</a:t>
            </a:r>
            <a:endParaRPr lang="en-US" sz="84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03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u="sng" dirty="0"/>
          </a:p>
        </p:txBody>
      </p:sp>
      <p:sp>
        <p:nvSpPr>
          <p:cNvPr id="5" name="Text 3"/>
          <p:cNvSpPr/>
          <p:nvPr/>
        </p:nvSpPr>
        <p:spPr>
          <a:xfrm>
            <a:off x="1466334" y="1188719"/>
            <a:ext cx="7537623" cy="14556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notebook demonstrates a complete hybrid machine learning system for mobile money credit scoring: risk segmentation, eligibility prediction, and loan amount estimation.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232453" y="3056238"/>
            <a:ext cx="7150443" cy="1977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Best clustering model: K-Means, Silhouette = 0.5625.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Best classification model: Random Forest, F1 = 0.9973 and ROC-AUC = 0.9999.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Best regression model: Random Forest Regressor, RMSE = 868.98 and R² = 0.999972.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4155"/>
                </a:solidFill>
                <a:latin typeface="+mj-lt"/>
                <a:ea typeface="Aptos" pitchFamily="34" charset="-122"/>
                <a:cs typeface="Times New Roman" panose="02020603050405020304" pitchFamily="18" charset="0"/>
              </a:rPr>
              <a:t>Main contribution: a lecture-aligned, explainable ML pipeline with critical evaluation.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2001</Words>
  <Application>Microsoft Office PowerPoint</Application>
  <PresentationFormat>Widescreen</PresentationFormat>
  <Paragraphs>413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Makerere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Money Loan Eligibility and Loan Amount Prediction</dc:title>
  <dc:subject>Mobile Money Loan Prediction — graph and table explanation deck</dc:subject>
  <dc:creator>Mwizerwa Timothy</dc:creator>
  <cp:lastModifiedBy>CODEZ</cp:lastModifiedBy>
  <cp:revision>16</cp:revision>
  <dcterms:created xsi:type="dcterms:W3CDTF">2026-06-02T19:04:15Z</dcterms:created>
  <dcterms:modified xsi:type="dcterms:W3CDTF">2026-06-02T22:10:48Z</dcterms:modified>
</cp:coreProperties>
</file>