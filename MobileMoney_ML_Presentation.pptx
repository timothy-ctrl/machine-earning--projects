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83210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Money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83210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AC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Eligibility &amp; Amount Prediction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240280"/>
            <a:ext cx="8321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Machine Learning Project: Supervised &amp; Unsupervised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2834640"/>
            <a:ext cx="3657600" cy="36576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1752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300" dirty="0">
                <a:solidFill>
                  <a:srgbClr val="CF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PaySim Mobile Money Simulation  |  6.36M transactions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38328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Platform: </a:t>
            </a:r>
            <a:r>
              <a:rPr lang="en-US" sz="1300" dirty="0">
                <a:solidFill>
                  <a:srgbClr val="CF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GPU-accelerated (NVIDIA cuML / cuDF) on Kaggle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3749040"/>
            <a:ext cx="8321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A82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Goals: </a:t>
            </a:r>
            <a:r>
              <a:rPr lang="en-US" sz="1300" dirty="0">
                <a:solidFill>
                  <a:srgbClr val="CFD8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loan eligibility · Predict loan amount (UGX) · Cluster customers by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Master-Level ML Project  |  MoKash-Inspired Credit Scoring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411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7680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Overview, Context &amp; 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280160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Dataset, motivation, and research goals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19072"/>
            <a:ext cx="411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28800"/>
            <a:ext cx="411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1755648"/>
            <a:ext cx="7680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Methodology, Feature Engineering &amp; Data Leakage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084832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EDA, derived features, leakage columns removed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23744"/>
            <a:ext cx="411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33472"/>
            <a:ext cx="411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560320"/>
            <a:ext cx="7680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Learning &amp; Clustering Segmentation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889504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vs GMM vs Agglomerative — risk profiling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328416"/>
            <a:ext cx="411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38144"/>
            <a:ext cx="411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3364992"/>
            <a:ext cx="7680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Learning: Classification &amp; Regression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3694176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eligibility classification + loan amount regression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133088"/>
            <a:ext cx="411480" cy="68580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42816"/>
            <a:ext cx="411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169664"/>
            <a:ext cx="7680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Limitations, Ethics, Future Plan &amp; 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" y="4498848"/>
            <a:ext cx="76809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constraints, fairness, and strategic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560320" y="1371600"/>
            <a:ext cx="640080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Overview,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&amp; Objectives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560320" y="30175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E5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· Motivation · Research Goals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Context &amp;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Inspired by MoKash — MTN's mobile credit service in Uganda, traditional banking leaves many unbanked customers without credit access. Mobile money transaction data provides a rich behavioral signal for credit-worthiness assessment without a formal credit history.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26974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— PaySim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3090672"/>
            <a:ext cx="19659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18104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6,362,620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3483864"/>
            <a:ext cx="1965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090672"/>
            <a:ext cx="19659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118104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6,353,307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14600" y="3483864"/>
            <a:ext cx="1965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Unique Customers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959352"/>
            <a:ext cx="19659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986784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5760" y="4352544"/>
            <a:ext cx="1965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Types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3959352"/>
            <a:ext cx="1965960" cy="749808"/>
          </a:xfrm>
          <a:prstGeom prst="rect">
            <a:avLst/>
          </a:prstGeom>
          <a:solidFill>
            <a:srgbClr val="E3F2FD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3986784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514600" y="4352544"/>
            <a:ext cx="1965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Type Distribution</a:t>
            </a:r>
            <a:endParaRPr lang="en-US" sz="16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88720"/>
            <a:ext cx="4023360" cy="35661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Kaggle PaySim1 — PS_20174392719_1491204439457_log.csv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1234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3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914400"/>
            <a:ext cx="7498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Eligibility Classification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whether a mobile money customer qualifies for a loan using binary classification. Six models compared: Logistic Regression, Decision Tree, Random Forest, Gradient Boosting, SVM, and KNN.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73152" cy="1234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3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7498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Amount Regression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67004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eligible customers, estimate the loan limit in UGX (2,000 – 500,000) using behavioral and balance features. Six regression models evaluated by MAE, RMSE, and R².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12344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86200"/>
            <a:ext cx="502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838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97280" y="3657600"/>
            <a:ext cx="7498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Risk-Based Customer Segmentation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041648"/>
            <a:ext cx="74980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unsupervised clustering (K-Means, GMM, Agglomerative) to group customers into Low, Medium, and High Risk profiles based on transaction behavior — without using fraud labels.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560320" y="914400"/>
            <a:ext cx="64008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Methodology, Feature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&amp;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Leakage Control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560320" y="32004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7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EDA · Customer Aggregation · Leakage Prevention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20624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88036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Amount Distribution (log scale)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06240" cy="21031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2880360"/>
            <a:ext cx="4206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Correlation Heatmap — Numeric Transaction Features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246120"/>
            <a:ext cx="4206240" cy="1691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4320" y="4919472"/>
            <a:ext cx="42062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Boxplot — Log(1+Amount), outlier detection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663440" y="3246120"/>
            <a:ext cx="42062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Findings: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No missing values across 6.36M rows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Amount is highly right-skewed → log transform applied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Old/new balances are strongly correlated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PAYMENT and TRANSFER dominate transaction types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— Customer Aggregation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data was grouped by customer (nameOrig) to create 25 behavioral features: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62456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Features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3886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transaction_count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avg_transaction_amount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total_transaction_amount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max_transaction_amount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std_transaction_amount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325880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62456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Features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1719072"/>
            <a:ext cx="3886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avg_oldbalance_org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max_oldbalance_org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avg_newbalance_orig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avg_oldbalance_dest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avg_newbalance_dest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54096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Cash Flow Features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10712"/>
            <a:ext cx="3886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avg_cash_flow_ratio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max_cash_flow_ratio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avg_origin_balance_change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avg_dest_balance_change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dest_balance_ratio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30175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3017520"/>
            <a:ext cx="406908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3054096"/>
            <a:ext cx="3886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Type Ratios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3410712"/>
            <a:ext cx="3886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type_ratio_PAYMENT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type_ratio_TRANSFER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type_ratio_CASH_IN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type_ratio_CASH_OUT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type_ratio_DEBIT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45152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40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6,362,620 transaction rows → 6,353,307 customer-level records  |  Shape: (6,353,307 × 25)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Leakage Control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777240"/>
            <a:ext cx="411480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4880" y="352044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Amount vs Origin Balance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804672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Leakage Is Critical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65760" y="1170432"/>
            <a:ext cx="4206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Including cluster labels or risk scores derived after target creation in the training features causes the model to 'cheat' — learning from the answer rather than from observable signals.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228600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Columns Removed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65760" y="2670048"/>
            <a:ext cx="4114800" cy="3017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706624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cluster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65760" y="3017520"/>
            <a:ext cx="4114800" cy="3017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54096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risk_group_encoded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65760" y="3364992"/>
            <a:ext cx="4114800" cy="3017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401568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avg_log_cash_flow_ratio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3712464"/>
            <a:ext cx="4114800" cy="3017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3749040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avg_cash_flow_ratio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5760" y="4059936"/>
            <a:ext cx="4114800" cy="301752"/>
          </a:xfrm>
          <a:prstGeom prst="rect">
            <a:avLst/>
          </a:prstGeom>
          <a:solidFill>
            <a:srgbClr val="FFEBEE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096512"/>
            <a:ext cx="38404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71C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max_cash_flow_ratio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65760" y="4462272"/>
            <a:ext cx="84124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removing leakage columns: 21 clean features used for supervised models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560320" y="1280160"/>
            <a:ext cx="64008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Learning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Clustering Segmentation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0" y="324612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E5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(GPU) · GMM · Agglomerative  |  Risk Profiling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Clustering Method Comparison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20624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0906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Elbow Method — Optimal k=3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06240" cy="228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0906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Silhouette &amp; Calinski-Harabasz Scores by Method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365760" y="3429000"/>
          <a:ext cx="8412480" cy="146304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Method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Silhouette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Calinski-H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DB Score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K-Means (GPU)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0.5625 ★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~High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~Low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Agglomerative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0.4657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Medium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GMM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0.3511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Higher</a:t>
                      </a:r>
                      <a:endParaRPr lang="en-US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(GPU via cuML) selected as best — highest Silhouette Score on 50,000-customer sample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Cluster Visualization &amp; Risk Profiling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804672"/>
            <a:ext cx="31089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Risk Distribution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234440"/>
            <a:ext cx="310896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4472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234440"/>
            <a:ext cx="109728" cy="74980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28930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184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43,114  (86.2%)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148840"/>
            <a:ext cx="310896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148840"/>
            <a:ext cx="109728" cy="74980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20370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25328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3,622  (7.2%)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3063240"/>
            <a:ext cx="3108960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70AD4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3063240"/>
            <a:ext cx="109728" cy="7498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11810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3447288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3,264  (6.5%)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60720" y="420624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PCA used for 2D visualization only — models trained on full 25-feature space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Profile Heatmap — Risk Interpretation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3291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Group Interpretation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32918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097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2588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transaction volume, moderate balances, stable cash flow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32918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68880"/>
            <a:ext cx="109728" cy="10972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032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85292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315468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Average behavior, typical of the bulk of customers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329184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703320"/>
            <a:ext cx="109728" cy="109728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94760"/>
            <a:ext cx="30175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087368"/>
            <a:ext cx="3017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AD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4389120"/>
            <a:ext cx="3017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cash-flow pressure, large balance volatility</a:t>
            </a:r>
            <a:endParaRPr lang="en-US" sz="10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070" y="1121410"/>
            <a:ext cx="5481955" cy="36125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Count per K-Means Cluster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73152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 1 (Medium Risk) dominates — 86.2% of customers  ·  Clusters 0 &amp; 2 represent smaller high-signal groups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5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560320" y="914400"/>
            <a:ext cx="6400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Learning: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0" y="34290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E5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Eligibility · Loan Amount Prediction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 — Loan Eligibility Model Comparison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20624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5478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Heatmap (all metrics)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0624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54787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Bar — Accuracy, Precision, Recall, F1, AUC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Winner: Random Forest  </a:t>
            </a: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 99.6%  ·  Precision 99.7%  ·  Recall 99.7%  ·  F1 99.7%  ·  ROC-AUC 99.99%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models trained on 75,000 customer sample  |  Test set: 15,000 customers  |  Leakage-controlled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Curves &amp; Confusion Matrices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84048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73075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Curves — All 5 Classifiers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77240"/>
            <a:ext cx="4572000" cy="3474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7680" y="4279392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Matrices — All Models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Classifier: Random Forest — Cross Validation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20040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64992"/>
            <a:ext cx="3200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Confusion Matrix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77240"/>
            <a:ext cx="53035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336499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5-Fold Cross-Validation F1 Scores (50,000 sample)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3749040"/>
            <a:ext cx="8595360" cy="1207008"/>
          </a:xfrm>
          <a:prstGeom prst="rect">
            <a:avLst/>
          </a:prstGeom>
          <a:solidFill>
            <a:srgbClr val="E3F2FD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7947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Cross-Validation Results (5-Fold, 50k sample)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Forest: Mean F1 = 0.9978  ±0.0003   |   Gradient Boosting: Mean F1 = 0.9951  ±0.0005   |   Decision Tree: Mean F1 = 0.9700  ±0.0039   |   KNN: Mean F1 = 0.9579  ±0.0013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 — Loan Amount Prediction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42062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36499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 Heatmap (MAE / RMSE / R²)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77240"/>
            <a:ext cx="420624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364992"/>
            <a:ext cx="4206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Ranked by RMSE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274320" y="3703320"/>
          <a:ext cx="8595360" cy="129845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25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MAE (UGX)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RMSE (UGX)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R²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Random Forest ★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126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0.99997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 Boosting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568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1,414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0.99993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Decision Tree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2,978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4,778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0.99915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6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KNN Regressor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&gt;5000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&gt;8000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&lt;0.999</a:t>
                      </a:r>
                      <a:endParaRPr lang="en-US" sz="11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 Diagnostics — Random Forest Regressor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384048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547872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vs Predicted Loan Amount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777240"/>
            <a:ext cx="448056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97680" y="3547872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Residual Plot — Errors evenly distributed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74320" y="3886200"/>
            <a:ext cx="8595360" cy="1078992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950208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Regressor results:  </a:t>
            </a: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MAE = UGX 126  ·  RMSE = UGX 869  ·  R² = 0.99997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vs Predicted points tightly cluster on the diagonal — near-perfect fit on eligible customer subset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Importance — Classification &amp; Regression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279392"/>
            <a:ext cx="5303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Feature Importances — Random Forest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760720" y="82296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Influential Features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760720" y="1261872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261872"/>
            <a:ext cx="563270" cy="12801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33872" y="1389888"/>
            <a:ext cx="30175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max_oldbalance_org  (17.6%)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33872" y="1609344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Peak account balance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19202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1920240"/>
            <a:ext cx="537667" cy="12801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33872" y="2048256"/>
            <a:ext cx="30175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avg_oldbalance_org  (16.8%)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2267712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account balance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2578608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2578608"/>
            <a:ext cx="326441" cy="12801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33872" y="2706624"/>
            <a:ext cx="30175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avg_origin_balance_change  (10.2%)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33872" y="2926080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 balance shift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760720" y="3236976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3236976"/>
            <a:ext cx="307238" cy="12801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33872" y="3364992"/>
            <a:ext cx="30175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total_origin_balance_change  (9.6%)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33872" y="3584448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Cumulative balance change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3895344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760720" y="3895344"/>
            <a:ext cx="220828" cy="128016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33872" y="4023360"/>
            <a:ext cx="3017520" cy="2468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avg_newbalance_orig  (6.9%)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33872" y="4242816"/>
            <a:ext cx="301752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890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Post-transaction balance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18288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>
                    <a:alpha val="80000"/>
                  </a:srgb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560320" y="914400"/>
            <a:ext cx="64008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Limitations, Ethics,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Plan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560320" y="3429000"/>
            <a:ext cx="6400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3E5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Constraints · Fairness · Strategic Next Steps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Ethical Considerations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60520" cy="1965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3886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86200" cy="1353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PaySim is a simulation — real-world data would include repayment history, defaults, and demographic signals not captured here.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777240"/>
            <a:ext cx="4160520" cy="1965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68680"/>
            <a:ext cx="3886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Engineered Targets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886200" cy="1353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Loan eligibility and loan amount targets were created using rule-based heuristics, not actual bank approval records. High accuracy partly reflects how targets were defined.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4160520" cy="1965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3886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Leakage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29000"/>
            <a:ext cx="3886200" cy="1353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Despite removing five leakage columns, derived features (e.g. balance change) may still correlate with the engineered target — warranting caution in production.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926080"/>
            <a:ext cx="4160520" cy="1965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017520"/>
            <a:ext cx="3886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Fairness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3429000"/>
            <a:ext cx="3886200" cy="13533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Credit models can encode systemic bias. Future deployment requires fairness audits across gender, geography, and income group — even when those variables are implicit in behavior.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Strategic Plan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269748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41248"/>
            <a:ext cx="25420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Term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38988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synthetic targets with real loan approval labels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9572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repayment history to improve eligibility labels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40156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SMOTE or class weighting if imbalance occurs in real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80467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04672"/>
            <a:ext cx="269748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841248"/>
            <a:ext cx="25420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Term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38988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as a real-time API using Flask/FastAPI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246888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3592" y="239572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with MoKash or similar mobile money platforms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47472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93592" y="340156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XGBoost or LightGBM for production-grade performance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804672"/>
            <a:ext cx="26974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804672"/>
            <a:ext cx="269748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841248"/>
            <a:ext cx="254203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Term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146304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138988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model drift over time with periodic retraining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246888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39572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audit for gender/geography bias before production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474720"/>
            <a:ext cx="201168" cy="201168"/>
          </a:xfrm>
          <a:prstGeom prst="ellipse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401568"/>
            <a:ext cx="2267712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to multi-country mobile money ecosystems (Rwanda, Tanzania, Kenya)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8321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128016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88720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097280"/>
            <a:ext cx="6858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K-Means (GPU) outperformed GMM &amp; Agglomerative with Silhouette = 0.5625, cleanly segmenting customers into Low, Medium, and High Risk groups.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8321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993392"/>
            <a:ext cx="128016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76272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83080" y="2084832"/>
            <a:ext cx="6858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achieved 99.6% accuracy and 99.99% ROC-AUC for loan eligibility — consistent across 5-fold cross-validation (F1 = 0.9978 ± 0.0003).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80944"/>
            <a:ext cx="8321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980944"/>
            <a:ext cx="128016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63824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83080" y="3072384"/>
            <a:ext cx="6858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 Regressor predicted UGX loan amounts with R² = 0.99997, MAE = UGX 126, demonstrating near-perfect fit on eligible customers.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68496"/>
            <a:ext cx="832104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2A5F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968496"/>
            <a:ext cx="128016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51376"/>
            <a:ext cx="1280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83080" y="4059936"/>
            <a:ext cx="68580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2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balance features (max &amp; avg old balance, balance change) are the strongest predictors of credit-worthiness in mobile money data.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9A82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demonstrates that GPU-accelerated ML on mobile money data can build a viable, explainable credit scoring system for the unbanked.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8685</Words>
  <Application>WPS Presentation</Application>
  <PresentationFormat>On-screen Show (16:9)</PresentationFormat>
  <Paragraphs>461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4" baseType="lpstr">
      <vt:lpstr>Arial</vt:lpstr>
      <vt:lpstr>SimSun</vt:lpstr>
      <vt:lpstr>Wingdings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Money Loan Eligibility Prediction</dc:title>
  <dc:creator>PptxGenJS</dc:creator>
  <dc:subject>PptxGenJS Presentation</dc:subject>
  <cp:lastModifiedBy>La Joya</cp:lastModifiedBy>
  <cp:revision>2</cp:revision>
  <dcterms:created xsi:type="dcterms:W3CDTF">2026-06-03T20:17:00Z</dcterms:created>
  <dcterms:modified xsi:type="dcterms:W3CDTF">2026-06-03T20:30:31Z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77F387C00087470F8EC443934CB0BDE1_13</vt:lpwstr>
  </property>
</Properties>
</file>